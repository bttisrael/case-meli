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6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0EC"/>
    <a:srgbClr val="F4E8E2"/>
    <a:srgbClr val="FBF0DB"/>
    <a:srgbClr val="F1E5E5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2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400898624651852E-2"/>
          <c:y val="0.17604654975576614"/>
          <c:w val="0.95086002783792878"/>
          <c:h val="0.5033039098344305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Exact MILP (HiGHS)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</c:f>
              <c:strCache>
                <c:ptCount val="1"/>
                <c:pt idx="0">
                  <c:v>Method</c:v>
                </c:pt>
              </c:strCache>
            </c:strRef>
          </c:cat>
          <c:val>
            <c:numRef>
              <c:f>Planilha1!$B$2</c:f>
              <c:numCache>
                <c:formatCode>General</c:formatCode>
                <c:ptCount val="1"/>
                <c:pt idx="0">
                  <c:v>4.3600000000000003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FB-4E21-874C-19C68519AD20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Greedy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</c:f>
              <c:strCache>
                <c:ptCount val="1"/>
                <c:pt idx="0">
                  <c:v>Method</c:v>
                </c:pt>
              </c:strCache>
            </c:strRef>
          </c:cat>
          <c:val>
            <c:numRef>
              <c:f>Planilha1!$C$2</c:f>
              <c:numCache>
                <c:formatCode>General</c:formatCode>
                <c:ptCount val="1"/>
                <c:pt idx="0">
                  <c:v>4.24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9FB-4E21-874C-19C68519AD20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Average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</c:f>
              <c:strCache>
                <c:ptCount val="1"/>
                <c:pt idx="0">
                  <c:v>Method</c:v>
                </c:pt>
              </c:strCache>
            </c:strRef>
          </c:cat>
          <c:val>
            <c:numRef>
              <c:f>Planilha1!$D$2</c:f>
              <c:numCache>
                <c:formatCode>General</c:formatCode>
                <c:ptCount val="1"/>
                <c:pt idx="0">
                  <c:v>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9FB-4E21-874C-19C68519AD2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-30"/>
        <c:axId val="1715331920"/>
        <c:axId val="1458600176"/>
      </c:barChart>
      <c:catAx>
        <c:axId val="1715331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458600176"/>
        <c:crosses val="autoZero"/>
        <c:auto val="1"/>
        <c:lblAlgn val="ctr"/>
        <c:lblOffset val="100"/>
        <c:noMultiLvlLbl val="0"/>
      </c:catAx>
      <c:valAx>
        <c:axId val="14586001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715331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ln w="9525" cap="sq">
                <a:solidFill>
                  <a:schemeClr val="tx1"/>
                </a:solidFill>
                <a:bevel/>
              </a:ln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0.63448</cdr:x>
      <cdr:y>0.07926</cdr:y>
    </cdr:from>
    <cdr:to>
      <cdr:x>0.77831</cdr:x>
      <cdr:y>0.25215</cdr:y>
    </cdr:to>
    <cdr:sp macro="" textlink="">
      <cdr:nvSpPr>
        <cdr:cNvPr id="2" name="Fluxograma: Conector 1">
          <a:extLst xmlns:a="http://schemas.openxmlformats.org/drawingml/2006/main">
            <a:ext uri="{FF2B5EF4-FFF2-40B4-BE49-F238E27FC236}">
              <a16:creationId xmlns:a16="http://schemas.microsoft.com/office/drawing/2014/main" id="{8CE91EB8-9FA8-057D-7C47-1BDFEEB627AB}"/>
            </a:ext>
          </a:extLst>
        </cdr:cNvPr>
        <cdr:cNvSpPr/>
      </cdr:nvSpPr>
      <cdr:spPr>
        <a:xfrm xmlns:a="http://schemas.openxmlformats.org/drawingml/2006/main">
          <a:off x="3298425" y="211195"/>
          <a:ext cx="747727" cy="460726"/>
        </a:xfrm>
        <a:prstGeom xmlns:a="http://schemas.openxmlformats.org/drawingml/2006/main" prst="flowChartConnector">
          <a:avLst/>
        </a:prstGeom>
        <a:ln xmlns:a="http://schemas.openxmlformats.org/drawingml/2006/main">
          <a:solidFill>
            <a:schemeClr val="tx1"/>
          </a:solidFill>
        </a:ln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BR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37%</a:t>
          </a:r>
        </a:p>
      </cdr:txBody>
    </cdr:sp>
  </cdr:relSizeAnchor>
  <cdr:relSizeAnchor xmlns:cdr="http://schemas.openxmlformats.org/drawingml/2006/chartDrawing">
    <cdr:from>
      <cdr:x>0.19544</cdr:x>
      <cdr:y>0.10996</cdr:y>
    </cdr:from>
    <cdr:to>
      <cdr:x>0.28952</cdr:x>
      <cdr:y>0.22893</cdr:y>
    </cdr:to>
    <cdr:cxnSp macro="">
      <cdr:nvCxnSpPr>
        <cdr:cNvPr id="10" name="Conector: Angulado 9">
          <a:extLst xmlns:a="http://schemas.openxmlformats.org/drawingml/2006/main">
            <a:ext uri="{FF2B5EF4-FFF2-40B4-BE49-F238E27FC236}">
              <a16:creationId xmlns:a16="http://schemas.microsoft.com/office/drawing/2014/main" id="{C4358481-82B3-38BB-948D-61E53CC7FAC5}"/>
            </a:ext>
          </a:extLst>
        </cdr:cNvPr>
        <cdr:cNvCxnSpPr/>
      </cdr:nvCxnSpPr>
      <cdr:spPr>
        <a:xfrm xmlns:a="http://schemas.openxmlformats.org/drawingml/2006/main" flipV="1">
          <a:off x="1016000" y="293022"/>
          <a:ext cx="489080" cy="317017"/>
        </a:xfrm>
        <a:prstGeom xmlns:a="http://schemas.openxmlformats.org/drawingml/2006/main" prst="bentConnector3">
          <a:avLst>
            <a:gd name="adj1" fmla="val 2220"/>
          </a:avLst>
        </a:prstGeom>
        <a:ln xmlns:a="http://schemas.openxmlformats.org/drawingml/2006/main">
          <a:tailEnd type="triangle"/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1">
          <a:schemeClr val="dk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0.5428</cdr:x>
      <cdr:y>0.1657</cdr:y>
    </cdr:from>
    <cdr:to>
      <cdr:x>0.63448</cdr:x>
      <cdr:y>0.24583</cdr:y>
    </cdr:to>
    <cdr:cxnSp macro="">
      <cdr:nvCxnSpPr>
        <cdr:cNvPr id="14" name="Conector: Angulado 13">
          <a:extLst xmlns:a="http://schemas.openxmlformats.org/drawingml/2006/main">
            <a:ext uri="{FF2B5EF4-FFF2-40B4-BE49-F238E27FC236}">
              <a16:creationId xmlns:a16="http://schemas.microsoft.com/office/drawing/2014/main" id="{43C66FBE-5BE4-F2D5-FA82-572D505A59D0}"/>
            </a:ext>
          </a:extLst>
        </cdr:cNvPr>
        <cdr:cNvCxnSpPr/>
      </cdr:nvCxnSpPr>
      <cdr:spPr>
        <a:xfrm xmlns:a="http://schemas.openxmlformats.org/drawingml/2006/main" flipV="1">
          <a:off x="2821788" y="441558"/>
          <a:ext cx="476637" cy="213520"/>
        </a:xfrm>
        <a:prstGeom xmlns:a="http://schemas.openxmlformats.org/drawingml/2006/main" prst="bentConnector3">
          <a:avLst>
            <a:gd name="adj1" fmla="val -1158"/>
          </a:avLst>
        </a:prstGeom>
        <a:ln xmlns:a="http://schemas.openxmlformats.org/drawingml/2006/main">
          <a:tailEnd type="triangle"/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1">
          <a:schemeClr val="dk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0.77836</cdr:x>
      <cdr:y>0.1657</cdr:y>
    </cdr:from>
    <cdr:to>
      <cdr:x>0.83842</cdr:x>
      <cdr:y>0.37242</cdr:y>
    </cdr:to>
    <cdr:cxnSp macro="">
      <cdr:nvCxnSpPr>
        <cdr:cNvPr id="18" name="Conector: Angulado 17">
          <a:extLst xmlns:a="http://schemas.openxmlformats.org/drawingml/2006/main">
            <a:ext uri="{FF2B5EF4-FFF2-40B4-BE49-F238E27FC236}">
              <a16:creationId xmlns:a16="http://schemas.microsoft.com/office/drawing/2014/main" id="{FBCB3BF0-359B-DAD4-001B-E96F1A122002}"/>
            </a:ext>
          </a:extLst>
        </cdr:cNvPr>
        <cdr:cNvCxnSpPr/>
      </cdr:nvCxnSpPr>
      <cdr:spPr>
        <a:xfrm xmlns:a="http://schemas.openxmlformats.org/drawingml/2006/main" rot="16200000" flipH="1">
          <a:off x="4046402" y="441557"/>
          <a:ext cx="312238" cy="550839"/>
        </a:xfrm>
        <a:prstGeom xmlns:a="http://schemas.openxmlformats.org/drawingml/2006/main" prst="bentConnector3">
          <a:avLst>
            <a:gd name="adj1" fmla="val 200"/>
          </a:avLst>
        </a:prstGeom>
        <a:ln xmlns:a="http://schemas.openxmlformats.org/drawingml/2006/main">
          <a:tailEnd type="triangle"/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1">
          <a:schemeClr val="dk1"/>
        </a:effectRef>
        <a:fontRef xmlns:a="http://schemas.openxmlformats.org/drawingml/2006/main" idx="minor">
          <a:schemeClr val="tx1"/>
        </a:fontRef>
      </cdr:style>
    </cdr:cxn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62D094-9B3B-4723-BBD9-EAF086AAD7A8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8290B2-1B2F-4F62-BE53-D278E162ED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7321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290B2-1B2F-4F62-BE53-D278E162ED9E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2749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C47B0EA6-DDB9-406A-BD34-A6073565B14A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81D819C8-9FC6-47EF-93F8-B463FA706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7499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B0EA6-DDB9-406A-BD34-A6073565B14A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819C8-9FC6-47EF-93F8-B463FA706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8348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81D819C8-9FC6-47EF-93F8-B463FA7067ED}" type="slidenum">
              <a:rPr lang="pt-BR" smtClean="0"/>
              <a:t>‹nº›</a:t>
            </a:fld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C47B0EA6-DDB9-406A-BD34-A6073565B14A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98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C47B0EA6-DDB9-406A-BD34-A6073565B14A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1D819C8-9FC6-47EF-93F8-B463FA706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772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B28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47B0EA6-DDB9-406A-BD34-A6073565B14A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1D819C8-9FC6-47EF-93F8-B463FA706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6514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47B0EA6-DDB9-406A-BD34-A6073565B14A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81D819C8-9FC6-47EF-93F8-B463FA706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504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C47B0EA6-DDB9-406A-BD34-A6073565B14A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81D819C8-9FC6-47EF-93F8-B463FA7067ED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59404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B0EA6-DDB9-406A-BD34-A6073565B14A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819C8-9FC6-47EF-93F8-B463FA706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5581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C47B0EA6-DDB9-406A-BD34-A6073565B14A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819C8-9FC6-47EF-93F8-B463FA706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7944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C47B0EA6-DDB9-406A-BD34-A6073565B14A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819C8-9FC6-47EF-93F8-B463FA706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5958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B0EA6-DDB9-406A-BD34-A6073565B14A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819C8-9FC6-47EF-93F8-B463FA706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6565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C47B0EA6-DDB9-406A-BD34-A6073565B14A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81D819C8-9FC6-47EF-93F8-B463FA706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7575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C47B0EA6-DDB9-406A-BD34-A6073565B14A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81D819C8-9FC6-47EF-93F8-B463FA706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33778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C47B0EA6-DDB9-406A-BD34-A6073565B14A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1D819C8-9FC6-47EF-93F8-B463FA706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34082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>
              <a:gd name="connsiteX0" fmla="*/ 48006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562599 h 6858000"/>
              <a:gd name="connsiteX5" fmla="*/ 4800600 w 12192000"/>
              <a:gd name="connsiteY5" fmla="*/ 55625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C47B0EA6-DDB9-406A-BD34-A6073565B14A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81D819C8-9FC6-47EF-93F8-B463FA706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10868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C47B0EA6-DDB9-406A-BD34-A6073565B14A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81D819C8-9FC6-47EF-93F8-B463FA706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17937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B0EA6-DDB9-406A-BD34-A6073565B14A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819C8-9FC6-47EF-93F8-B463FA7067ED}" type="slidenum">
              <a:rPr lang="pt-BR" smtClean="0"/>
              <a:t>‹nº›</a:t>
            </a:fld>
            <a:endParaRPr lang="pt-BR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25726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C47B0EA6-DDB9-406A-BD34-A6073565B14A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819C8-9FC6-47EF-93F8-B463FA706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4995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7B0EA6-DDB9-406A-BD34-A6073565B14A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1D819C8-9FC6-47EF-93F8-B463FA7067ED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320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47B0EA6-DDB9-406A-BD34-A6073565B14A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1D819C8-9FC6-47EF-93F8-B463FA706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86756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C47B0EA6-DDB9-406A-BD34-A6073565B14A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81D819C8-9FC6-47EF-93F8-B463FA706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22848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B0EA6-DDB9-406A-BD34-A6073565B14A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819C8-9FC6-47EF-93F8-B463FA706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49510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B0EA6-DDB9-406A-BD34-A6073565B14A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819C8-9FC6-47EF-93F8-B463FA706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2744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B0EA6-DDB9-406A-BD34-A6073565B14A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819C8-9FC6-47EF-93F8-B463FA706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49671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B0EA6-DDB9-406A-BD34-A6073565B14A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819C8-9FC6-47EF-93F8-B463FA706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82748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C47B0EA6-DDB9-406A-BD34-A6073565B14A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81D819C8-9FC6-47EF-93F8-B463FA706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90495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C47B0EA6-DDB9-406A-BD34-A6073565B14A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1D819C8-9FC6-47EF-93F8-B463FA706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107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C47B0EA6-DDB9-406A-BD34-A6073565B14A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81D819C8-9FC6-47EF-93F8-B463FA706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9333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  <p:sldLayoutId id="2147483809" r:id="rId13"/>
    <p:sldLayoutId id="2147483810" r:id="rId14"/>
    <p:sldLayoutId id="2147483811" r:id="rId15"/>
    <p:sldLayoutId id="2147483812" r:id="rId16"/>
    <p:sldLayoutId id="2147483813" r:id="rId17"/>
    <p:sldLayoutId id="2147483814" r:id="rId18"/>
    <p:sldLayoutId id="2147483815" r:id="rId19"/>
    <p:sldLayoutId id="2147483816" r:id="rId20"/>
    <p:sldLayoutId id="2147483817" r:id="rId21"/>
    <p:sldLayoutId id="2147483818" r:id="rId22"/>
    <p:sldLayoutId id="2147483819" r:id="rId23"/>
    <p:sldLayoutId id="2147483820" r:id="rId24"/>
    <p:sldLayoutId id="2147483821" r:id="rId25"/>
    <p:sldLayoutId id="2147483822" r:id="rId26"/>
    <p:sldLayoutId id="2147483823" r:id="rId27"/>
  </p:sldLayoutIdLst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chart" Target="../charts/chart1.xml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9.sv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 descr="Desbloquear com preenchimento sólido">
            <a:extLst>
              <a:ext uri="{FF2B5EF4-FFF2-40B4-BE49-F238E27FC236}">
                <a16:creationId xmlns:a16="http://schemas.microsoft.com/office/drawing/2014/main" id="{4DBE9C66-4D17-3D02-C0C1-45DAF6463D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0640" y="4765118"/>
            <a:ext cx="386231" cy="185810"/>
          </a:xfrm>
          <a:prstGeom prst="rect">
            <a:avLst/>
          </a:prstGeom>
        </p:spPr>
      </p:pic>
      <p:pic>
        <p:nvPicPr>
          <p:cNvPr id="9" name="Gráfico 8" descr="Na mosca com preenchimento sólido">
            <a:extLst>
              <a:ext uri="{FF2B5EF4-FFF2-40B4-BE49-F238E27FC236}">
                <a16:creationId xmlns:a16="http://schemas.microsoft.com/office/drawing/2014/main" id="{82568FCB-426D-BDF5-4CE2-FE987083B4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071" y="2628143"/>
            <a:ext cx="540048" cy="434932"/>
          </a:xfrm>
          <a:prstGeom prst="rect">
            <a:avLst/>
          </a:prstGeom>
        </p:spPr>
      </p:pic>
      <p:pic>
        <p:nvPicPr>
          <p:cNvPr id="11" name="Gráfico 10" descr="Cérebro com preenchimento sólido">
            <a:extLst>
              <a:ext uri="{FF2B5EF4-FFF2-40B4-BE49-F238E27FC236}">
                <a16:creationId xmlns:a16="http://schemas.microsoft.com/office/drawing/2014/main" id="{2F857957-798C-AA8E-CEA6-E183AA0EF7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0241" y="1686063"/>
            <a:ext cx="540048" cy="434932"/>
          </a:xfrm>
          <a:prstGeom prst="rect">
            <a:avLst/>
          </a:prstGeom>
        </p:spPr>
      </p:pic>
      <p:pic>
        <p:nvPicPr>
          <p:cNvPr id="13" name="Gráfico 12" descr="Cmd Terminal com preenchimento sólido">
            <a:extLst>
              <a:ext uri="{FF2B5EF4-FFF2-40B4-BE49-F238E27FC236}">
                <a16:creationId xmlns:a16="http://schemas.microsoft.com/office/drawing/2014/main" id="{E6C79532-2839-724B-B92E-B78F892526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7281" y="1686063"/>
            <a:ext cx="540048" cy="434932"/>
          </a:xfrm>
          <a:prstGeom prst="rect">
            <a:avLst/>
          </a:prstGeom>
        </p:spPr>
      </p:pic>
      <p:pic>
        <p:nvPicPr>
          <p:cNvPr id="15" name="Gráfico 14" descr="Pesquisa com preenchimento sólido">
            <a:extLst>
              <a:ext uri="{FF2B5EF4-FFF2-40B4-BE49-F238E27FC236}">
                <a16:creationId xmlns:a16="http://schemas.microsoft.com/office/drawing/2014/main" id="{CAE857B1-689A-96E3-C110-78360DCB89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01744" y="2069523"/>
            <a:ext cx="540048" cy="434932"/>
          </a:xfrm>
          <a:prstGeom prst="rect">
            <a:avLst/>
          </a:prstGeom>
        </p:spPr>
      </p:pic>
      <p:pic>
        <p:nvPicPr>
          <p:cNvPr id="17" name="Gráfico 16" descr="Banco de dados com preenchimento sólido">
            <a:extLst>
              <a:ext uri="{FF2B5EF4-FFF2-40B4-BE49-F238E27FC236}">
                <a16:creationId xmlns:a16="http://schemas.microsoft.com/office/drawing/2014/main" id="{29BF3A2C-8CE3-4CD7-5BF0-7135A9FE0D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43663" y="1387461"/>
            <a:ext cx="540048" cy="434932"/>
          </a:xfrm>
          <a:prstGeom prst="rect">
            <a:avLst/>
          </a:prstGeom>
        </p:spPr>
      </p:pic>
      <p:pic>
        <p:nvPicPr>
          <p:cNvPr id="19" name="Gráfico 18" descr="Bolha de pensamento com preenchimento sólido">
            <a:extLst>
              <a:ext uri="{FF2B5EF4-FFF2-40B4-BE49-F238E27FC236}">
                <a16:creationId xmlns:a16="http://schemas.microsoft.com/office/drawing/2014/main" id="{C7D11EB5-109C-6327-65DD-B7D97FBC7C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9157" y="2138349"/>
            <a:ext cx="540047" cy="434931"/>
          </a:xfrm>
          <a:prstGeom prst="rect">
            <a:avLst/>
          </a:prstGeom>
        </p:spPr>
      </p:pic>
      <p:pic>
        <p:nvPicPr>
          <p:cNvPr id="21" name="Gráfico 20" descr="Perguntas com preenchimento sólido">
            <a:extLst>
              <a:ext uri="{FF2B5EF4-FFF2-40B4-BE49-F238E27FC236}">
                <a16:creationId xmlns:a16="http://schemas.microsoft.com/office/drawing/2014/main" id="{3BC2088D-1920-F0E1-37EF-646DD6F38F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86071" y="974247"/>
            <a:ext cx="540048" cy="434932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BBEB0BE8-7372-081E-5315-23BDFE073CFA}"/>
              </a:ext>
            </a:extLst>
          </p:cNvPr>
          <p:cNvSpPr txBox="1"/>
          <p:nvPr/>
        </p:nvSpPr>
        <p:spPr>
          <a:xfrm>
            <a:off x="472127" y="499299"/>
            <a:ext cx="3106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pt-B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</a:t>
            </a:r>
            <a:endParaRPr lang="pt-BR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55ABABB4-690F-A181-FC36-1C79CC3639CB}"/>
              </a:ext>
            </a:extLst>
          </p:cNvPr>
          <p:cNvSpPr txBox="1"/>
          <p:nvPr/>
        </p:nvSpPr>
        <p:spPr>
          <a:xfrm>
            <a:off x="4722864" y="514327"/>
            <a:ext cx="3106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pt-B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pt-BR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Solving</a:t>
            </a:r>
            <a:endParaRPr lang="pt-BR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C2D30292-2963-6082-E3CC-497C3740A25E}"/>
              </a:ext>
            </a:extLst>
          </p:cNvPr>
          <p:cNvSpPr txBox="1"/>
          <p:nvPr/>
        </p:nvSpPr>
        <p:spPr>
          <a:xfrm>
            <a:off x="8493995" y="519619"/>
            <a:ext cx="3469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performance &amp; </a:t>
            </a:r>
            <a:r>
              <a:rPr lang="pt-BR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pt-BR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C6ED737B-6977-621C-8CB8-44EA2F567D39}"/>
              </a:ext>
            </a:extLst>
          </p:cNvPr>
          <p:cNvCxnSpPr>
            <a:stCxn id="19" idx="0"/>
            <a:endCxn id="17" idx="1"/>
          </p:cNvCxnSpPr>
          <p:nvPr/>
        </p:nvCxnSpPr>
        <p:spPr>
          <a:xfrm flipV="1">
            <a:off x="729181" y="1604927"/>
            <a:ext cx="614482" cy="5334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79881A47-21D4-BCB7-DD90-4F2ADB472CB8}"/>
              </a:ext>
            </a:extLst>
          </p:cNvPr>
          <p:cNvCxnSpPr/>
          <p:nvPr/>
        </p:nvCxnSpPr>
        <p:spPr>
          <a:xfrm>
            <a:off x="1907457" y="1575173"/>
            <a:ext cx="517158" cy="494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4F732E45-B212-6B69-AE34-EDA8E5F0C1F7}"/>
              </a:ext>
            </a:extLst>
          </p:cNvPr>
          <p:cNvCxnSpPr>
            <a:stCxn id="15" idx="1"/>
          </p:cNvCxnSpPr>
          <p:nvPr/>
        </p:nvCxnSpPr>
        <p:spPr>
          <a:xfrm flipH="1">
            <a:off x="1036422" y="2286989"/>
            <a:ext cx="12653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Elipse 39">
            <a:extLst>
              <a:ext uri="{FF2B5EF4-FFF2-40B4-BE49-F238E27FC236}">
                <a16:creationId xmlns:a16="http://schemas.microsoft.com/office/drawing/2014/main" id="{4475A97D-ED62-E9D6-F86F-5ED978C8D82D}"/>
              </a:ext>
            </a:extLst>
          </p:cNvPr>
          <p:cNvSpPr/>
          <p:nvPr/>
        </p:nvSpPr>
        <p:spPr>
          <a:xfrm>
            <a:off x="4468069" y="973070"/>
            <a:ext cx="2576052" cy="208443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Seta: para a Direita 41">
            <a:extLst>
              <a:ext uri="{FF2B5EF4-FFF2-40B4-BE49-F238E27FC236}">
                <a16:creationId xmlns:a16="http://schemas.microsoft.com/office/drawing/2014/main" id="{4CCFCD9F-B415-6343-182C-62D293536FB8}"/>
              </a:ext>
            </a:extLst>
          </p:cNvPr>
          <p:cNvSpPr/>
          <p:nvPr/>
        </p:nvSpPr>
        <p:spPr>
          <a:xfrm>
            <a:off x="3166912" y="1688431"/>
            <a:ext cx="839430" cy="46042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6" name="Gráfico 45" descr="Gráfico de barras com tendência ascendente com preenchimento sólido">
            <a:extLst>
              <a:ext uri="{FF2B5EF4-FFF2-40B4-BE49-F238E27FC236}">
                <a16:creationId xmlns:a16="http://schemas.microsoft.com/office/drawing/2014/main" id="{20C7EA21-3E12-6663-4EDA-A0287CE267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76961" y="1223199"/>
            <a:ext cx="457200" cy="457200"/>
          </a:xfrm>
          <a:prstGeom prst="rect">
            <a:avLst/>
          </a:prstGeom>
        </p:spPr>
      </p:pic>
      <p:pic>
        <p:nvPicPr>
          <p:cNvPr id="48" name="Gráfico 47" descr="Disco com preenchimento sólido">
            <a:extLst>
              <a:ext uri="{FF2B5EF4-FFF2-40B4-BE49-F238E27FC236}">
                <a16:creationId xmlns:a16="http://schemas.microsoft.com/office/drawing/2014/main" id="{2F020FAD-0EFB-84E4-D080-CE84B180C7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92639" y="1954775"/>
            <a:ext cx="501573" cy="501573"/>
          </a:xfrm>
          <a:prstGeom prst="rect">
            <a:avLst/>
          </a:prstGeom>
        </p:spPr>
      </p:pic>
      <p:cxnSp>
        <p:nvCxnSpPr>
          <p:cNvPr id="50" name="Conector: Curvo 49">
            <a:extLst>
              <a:ext uri="{FF2B5EF4-FFF2-40B4-BE49-F238E27FC236}">
                <a16:creationId xmlns:a16="http://schemas.microsoft.com/office/drawing/2014/main" id="{7C2BDB38-9CF6-3221-E5A6-7AB13FE6C172}"/>
              </a:ext>
            </a:extLst>
          </p:cNvPr>
          <p:cNvCxnSpPr>
            <a:cxnSpLocks/>
            <a:stCxn id="46" idx="3"/>
            <a:endCxn id="48" idx="1"/>
          </p:cNvCxnSpPr>
          <p:nvPr/>
        </p:nvCxnSpPr>
        <p:spPr>
          <a:xfrm>
            <a:off x="9434161" y="1451799"/>
            <a:ext cx="758478" cy="75376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4" name="Gráfico 53" descr="Bolha de pensamento com preenchimento sólido">
            <a:extLst>
              <a:ext uri="{FF2B5EF4-FFF2-40B4-BE49-F238E27FC236}">
                <a16:creationId xmlns:a16="http://schemas.microsoft.com/office/drawing/2014/main" id="{A7AD2986-0F8F-6EFE-A0B7-8405576AF6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5581" y="3527073"/>
            <a:ext cx="320516" cy="154195"/>
          </a:xfrm>
          <a:prstGeom prst="rect">
            <a:avLst/>
          </a:prstGeom>
        </p:spPr>
      </p:pic>
      <p:pic>
        <p:nvPicPr>
          <p:cNvPr id="56" name="Gráfico 55" descr="Banco de dados com preenchimento sólido">
            <a:extLst>
              <a:ext uri="{FF2B5EF4-FFF2-40B4-BE49-F238E27FC236}">
                <a16:creationId xmlns:a16="http://schemas.microsoft.com/office/drawing/2014/main" id="{7E0EB846-2929-2E45-EAB1-C64C8FD642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5260" y="3757648"/>
            <a:ext cx="320516" cy="154195"/>
          </a:xfrm>
          <a:prstGeom prst="rect">
            <a:avLst/>
          </a:prstGeom>
        </p:spPr>
      </p:pic>
      <p:pic>
        <p:nvPicPr>
          <p:cNvPr id="58" name="Gráfico 57" descr="Pesquisa com preenchimento sólido">
            <a:extLst>
              <a:ext uri="{FF2B5EF4-FFF2-40B4-BE49-F238E27FC236}">
                <a16:creationId xmlns:a16="http://schemas.microsoft.com/office/drawing/2014/main" id="{8F5FFCA8-8D3D-5756-9A35-25579FAE81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4945" y="4027827"/>
            <a:ext cx="312521" cy="150349"/>
          </a:xfrm>
          <a:prstGeom prst="rect">
            <a:avLst/>
          </a:prstGeom>
        </p:spPr>
      </p:pic>
      <p:pic>
        <p:nvPicPr>
          <p:cNvPr id="60" name="Gráfico 59" descr="Cmd Terminal com preenchimento sólido">
            <a:extLst>
              <a:ext uri="{FF2B5EF4-FFF2-40B4-BE49-F238E27FC236}">
                <a16:creationId xmlns:a16="http://schemas.microsoft.com/office/drawing/2014/main" id="{C5DE52D4-6629-733F-6A00-1B93FA9271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9151" y="4251181"/>
            <a:ext cx="225302" cy="181449"/>
          </a:xfrm>
          <a:prstGeom prst="rect">
            <a:avLst/>
          </a:prstGeom>
        </p:spPr>
      </p:pic>
      <p:pic>
        <p:nvPicPr>
          <p:cNvPr id="62" name="Gráfico 61" descr="Perguntas com preenchimento sólido">
            <a:extLst>
              <a:ext uri="{FF2B5EF4-FFF2-40B4-BE49-F238E27FC236}">
                <a16:creationId xmlns:a16="http://schemas.microsoft.com/office/drawing/2014/main" id="{67CB0284-BDC5-2CC2-E0FB-EA482D4CBD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5173" y="4487941"/>
            <a:ext cx="377166" cy="181449"/>
          </a:xfrm>
          <a:prstGeom prst="rect">
            <a:avLst/>
          </a:prstGeom>
        </p:spPr>
      </p:pic>
      <p:pic>
        <p:nvPicPr>
          <p:cNvPr id="64" name="Gráfico 63" descr="Desbloquear com preenchimento sólido">
            <a:extLst>
              <a:ext uri="{FF2B5EF4-FFF2-40B4-BE49-F238E27FC236}">
                <a16:creationId xmlns:a16="http://schemas.microsoft.com/office/drawing/2014/main" id="{469EE759-4687-99D9-27A2-FC61ED471D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63367" y="1677893"/>
            <a:ext cx="540048" cy="434932"/>
          </a:xfrm>
          <a:prstGeom prst="rect">
            <a:avLst/>
          </a:prstGeom>
        </p:spPr>
      </p:pic>
      <p:pic>
        <p:nvPicPr>
          <p:cNvPr id="66" name="Gráfico 65" descr="Na mosca com preenchimento sólido">
            <a:extLst>
              <a:ext uri="{FF2B5EF4-FFF2-40B4-BE49-F238E27FC236}">
                <a16:creationId xmlns:a16="http://schemas.microsoft.com/office/drawing/2014/main" id="{F22F8A34-72C8-C4B2-158B-670A1F2539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945" y="5054081"/>
            <a:ext cx="320656" cy="154263"/>
          </a:xfrm>
          <a:prstGeom prst="rect">
            <a:avLst/>
          </a:prstGeom>
        </p:spPr>
      </p:pic>
      <p:pic>
        <p:nvPicPr>
          <p:cNvPr id="68" name="Gráfico 67" descr="Cérebro com preenchimento sólido">
            <a:extLst>
              <a:ext uri="{FF2B5EF4-FFF2-40B4-BE49-F238E27FC236}">
                <a16:creationId xmlns:a16="http://schemas.microsoft.com/office/drawing/2014/main" id="{D171F554-FEFC-30E8-610B-BCA9A7DD1E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5560" y="5288815"/>
            <a:ext cx="276390" cy="222593"/>
          </a:xfrm>
          <a:prstGeom prst="rect">
            <a:avLst/>
          </a:prstGeom>
        </p:spPr>
      </p:pic>
      <p:pic>
        <p:nvPicPr>
          <p:cNvPr id="70" name="Gráfico 69" descr="Gráfico de barras com tendência ascendente com preenchimento sólido">
            <a:extLst>
              <a:ext uri="{FF2B5EF4-FFF2-40B4-BE49-F238E27FC236}">
                <a16:creationId xmlns:a16="http://schemas.microsoft.com/office/drawing/2014/main" id="{45C96590-7053-9302-F34D-897D43DC71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9386" y="5574677"/>
            <a:ext cx="235067" cy="235067"/>
          </a:xfrm>
          <a:prstGeom prst="rect">
            <a:avLst/>
          </a:prstGeom>
        </p:spPr>
      </p:pic>
      <p:pic>
        <p:nvPicPr>
          <p:cNvPr id="72" name="Gráfico 71" descr="Disco com preenchimento sólido">
            <a:extLst>
              <a:ext uri="{FF2B5EF4-FFF2-40B4-BE49-F238E27FC236}">
                <a16:creationId xmlns:a16="http://schemas.microsoft.com/office/drawing/2014/main" id="{E0135CFD-4969-0712-A3D5-7D59CFCC78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7156" y="5873013"/>
            <a:ext cx="294794" cy="294794"/>
          </a:xfrm>
          <a:prstGeom prst="rect">
            <a:avLst/>
          </a:prstGeom>
        </p:spPr>
      </p:pic>
      <p:sp>
        <p:nvSpPr>
          <p:cNvPr id="74" name="CaixaDeTexto 73">
            <a:extLst>
              <a:ext uri="{FF2B5EF4-FFF2-40B4-BE49-F238E27FC236}">
                <a16:creationId xmlns:a16="http://schemas.microsoft.com/office/drawing/2014/main" id="{C984224C-3DBF-387E-6DC2-675185E73BAE}"/>
              </a:ext>
            </a:extLst>
          </p:cNvPr>
          <p:cNvSpPr txBox="1"/>
          <p:nvPr/>
        </p:nvSpPr>
        <p:spPr>
          <a:xfrm>
            <a:off x="387701" y="3102041"/>
            <a:ext cx="3106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Subtitle</a:t>
            </a:r>
            <a:endParaRPr lang="pt-BR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DAC312F7-E2EC-0B6F-C177-740B82971D0B}"/>
              </a:ext>
            </a:extLst>
          </p:cNvPr>
          <p:cNvSpPr txBox="1"/>
          <p:nvPr/>
        </p:nvSpPr>
        <p:spPr>
          <a:xfrm>
            <a:off x="742179" y="3486433"/>
            <a:ext cx="33547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pt-BR" sz="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7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framing</a:t>
            </a:r>
            <a:endParaRPr lang="pt-BR" sz="7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345406CA-A8F7-740D-A904-5BE15DBDC619}"/>
              </a:ext>
            </a:extLst>
          </p:cNvPr>
          <p:cNvSpPr txBox="1"/>
          <p:nvPr/>
        </p:nvSpPr>
        <p:spPr>
          <a:xfrm>
            <a:off x="750586" y="3732044"/>
            <a:ext cx="33547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input </a:t>
            </a:r>
            <a:r>
              <a:rPr lang="pt-BR" sz="7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sz="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7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  <a:endParaRPr lang="pt-BR" sz="7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FEDD0919-13DC-4361-4A7D-5E2669A842B7}"/>
              </a:ext>
            </a:extLst>
          </p:cNvPr>
          <p:cNvSpPr txBox="1"/>
          <p:nvPr/>
        </p:nvSpPr>
        <p:spPr>
          <a:xfrm>
            <a:off x="740426" y="3996253"/>
            <a:ext cx="33547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Statistical</a:t>
            </a:r>
            <a:r>
              <a:rPr lang="pt-BR" sz="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pt-BR" sz="7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pt-BR" sz="7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CE195FA4-E1BB-7F90-F9C7-1008709ADB68}"/>
              </a:ext>
            </a:extLst>
          </p:cNvPr>
          <p:cNvSpPr txBox="1"/>
          <p:nvPr/>
        </p:nvSpPr>
        <p:spPr>
          <a:xfrm>
            <a:off x="730047" y="4241347"/>
            <a:ext cx="33547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endParaRPr lang="pt-BR" sz="7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25133A3A-8AC3-DD23-46D3-232AC8F0ECA8}"/>
              </a:ext>
            </a:extLst>
          </p:cNvPr>
          <p:cNvSpPr txBox="1"/>
          <p:nvPr/>
        </p:nvSpPr>
        <p:spPr>
          <a:xfrm>
            <a:off x="730047" y="4484592"/>
            <a:ext cx="33547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Decisions</a:t>
            </a:r>
            <a:endParaRPr lang="pt-BR" sz="7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B4AA22F5-C8D1-8CEB-2AA5-46AD01B00321}"/>
              </a:ext>
            </a:extLst>
          </p:cNvPr>
          <p:cNvSpPr txBox="1"/>
          <p:nvPr/>
        </p:nvSpPr>
        <p:spPr>
          <a:xfrm>
            <a:off x="723500" y="4748095"/>
            <a:ext cx="33547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pt-BR" sz="7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4EECB133-78BA-D3F7-B4C2-2B41E40D4EE7}"/>
              </a:ext>
            </a:extLst>
          </p:cNvPr>
          <p:cNvSpPr txBox="1"/>
          <p:nvPr/>
        </p:nvSpPr>
        <p:spPr>
          <a:xfrm>
            <a:off x="723499" y="5023119"/>
            <a:ext cx="33547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pt-BR" sz="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7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lang="pt-BR" sz="7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6D25B8C7-3593-3111-9843-2CC2B736639D}"/>
              </a:ext>
            </a:extLst>
          </p:cNvPr>
          <p:cNvSpPr txBox="1"/>
          <p:nvPr/>
        </p:nvSpPr>
        <p:spPr>
          <a:xfrm>
            <a:off x="733658" y="5311377"/>
            <a:ext cx="33547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Solver</a:t>
            </a:r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CF085E2D-9087-DAB0-3DD3-C52045A6FB26}"/>
              </a:ext>
            </a:extLst>
          </p:cNvPr>
          <p:cNvSpPr txBox="1"/>
          <p:nvPr/>
        </p:nvSpPr>
        <p:spPr>
          <a:xfrm>
            <a:off x="723498" y="5594145"/>
            <a:ext cx="33547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performance</a:t>
            </a:r>
          </a:p>
        </p:txBody>
      </p: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DF068900-EAF8-E13A-931D-44E1C7C57151}"/>
              </a:ext>
            </a:extLst>
          </p:cNvPr>
          <p:cNvSpPr txBox="1"/>
          <p:nvPr/>
        </p:nvSpPr>
        <p:spPr>
          <a:xfrm>
            <a:off x="730677" y="5901248"/>
            <a:ext cx="33547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graphicFrame>
        <p:nvGraphicFramePr>
          <p:cNvPr id="97" name="Gráfico 96">
            <a:extLst>
              <a:ext uri="{FF2B5EF4-FFF2-40B4-BE49-F238E27FC236}">
                <a16:creationId xmlns:a16="http://schemas.microsoft.com/office/drawing/2014/main" id="{1390DFE5-C6EC-1051-0F05-A96C54E1A8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5481"/>
              </p:ext>
            </p:extLst>
          </p:nvPr>
        </p:nvGraphicFramePr>
        <p:xfrm>
          <a:off x="3361039" y="3586460"/>
          <a:ext cx="5198611" cy="26647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98" name="Fluxograma: Conector 97">
            <a:extLst>
              <a:ext uri="{FF2B5EF4-FFF2-40B4-BE49-F238E27FC236}">
                <a16:creationId xmlns:a16="http://schemas.microsoft.com/office/drawing/2014/main" id="{8CE91EB8-9FA8-057D-7C47-1BDFEEB627AB}"/>
              </a:ext>
            </a:extLst>
          </p:cNvPr>
          <p:cNvSpPr/>
          <p:nvPr/>
        </p:nvSpPr>
        <p:spPr>
          <a:xfrm>
            <a:off x="4857880" y="3648928"/>
            <a:ext cx="747727" cy="460726"/>
          </a:xfrm>
          <a:prstGeom prst="flowChartConnecto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2,8%</a:t>
            </a:r>
          </a:p>
        </p:txBody>
      </p:sp>
      <p:cxnSp>
        <p:nvCxnSpPr>
          <p:cNvPr id="102" name="Conector: Angulado 101">
            <a:extLst>
              <a:ext uri="{FF2B5EF4-FFF2-40B4-BE49-F238E27FC236}">
                <a16:creationId xmlns:a16="http://schemas.microsoft.com/office/drawing/2014/main" id="{9AEAEB1E-FCF2-21F1-66D0-29AFB0444C38}"/>
              </a:ext>
            </a:extLst>
          </p:cNvPr>
          <p:cNvCxnSpPr>
            <a:cxnSpLocks/>
            <a:stCxn id="98" idx="6"/>
          </p:cNvCxnSpPr>
          <p:nvPr/>
        </p:nvCxnSpPr>
        <p:spPr>
          <a:xfrm>
            <a:off x="5605607" y="3879291"/>
            <a:ext cx="458768" cy="362056"/>
          </a:xfrm>
          <a:prstGeom prst="bentConnector3">
            <a:avLst>
              <a:gd name="adj1" fmla="val 9872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" name="CaixaDeTexto 107">
            <a:extLst>
              <a:ext uri="{FF2B5EF4-FFF2-40B4-BE49-F238E27FC236}">
                <a16:creationId xmlns:a16="http://schemas.microsoft.com/office/drawing/2014/main" id="{E62670A8-695B-608B-5AB6-849EEB4FA214}"/>
              </a:ext>
            </a:extLst>
          </p:cNvPr>
          <p:cNvSpPr txBox="1"/>
          <p:nvPr/>
        </p:nvSpPr>
        <p:spPr>
          <a:xfrm>
            <a:off x="4755636" y="3081361"/>
            <a:ext cx="3106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($MM)</a:t>
            </a:r>
          </a:p>
        </p:txBody>
      </p:sp>
      <p:sp>
        <p:nvSpPr>
          <p:cNvPr id="110" name="CaixaDeTexto 109">
            <a:extLst>
              <a:ext uri="{FF2B5EF4-FFF2-40B4-BE49-F238E27FC236}">
                <a16:creationId xmlns:a16="http://schemas.microsoft.com/office/drawing/2014/main" id="{CE05B759-1751-4F1A-6E31-13902618B3C2}"/>
              </a:ext>
            </a:extLst>
          </p:cNvPr>
          <p:cNvSpPr txBox="1"/>
          <p:nvPr/>
        </p:nvSpPr>
        <p:spPr>
          <a:xfrm>
            <a:off x="8585128" y="3087988"/>
            <a:ext cx="3106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Recomendations</a:t>
            </a:r>
            <a:r>
              <a:rPr lang="pt-B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Next Steps</a:t>
            </a:r>
          </a:p>
        </p:txBody>
      </p:sp>
      <p:sp>
        <p:nvSpPr>
          <p:cNvPr id="111" name="CaixaDeTexto 110">
            <a:extLst>
              <a:ext uri="{FF2B5EF4-FFF2-40B4-BE49-F238E27FC236}">
                <a16:creationId xmlns:a16="http://schemas.microsoft.com/office/drawing/2014/main" id="{BB676FC3-26BF-A80A-7865-862A8C26D6B3}"/>
              </a:ext>
            </a:extLst>
          </p:cNvPr>
          <p:cNvSpPr txBox="1"/>
          <p:nvPr/>
        </p:nvSpPr>
        <p:spPr>
          <a:xfrm>
            <a:off x="8646771" y="3497802"/>
            <a:ext cx="318962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though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huge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gap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greedy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HiGHS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small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difference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$0,12MM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justify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pt-BR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considers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truck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80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capacity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capacity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enought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redistribuition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surplus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pt-BR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Business Should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consider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Vehicle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higher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capacity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freight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doesn’t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Much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more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Vehicle.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pt-BR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quantity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vehicles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could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optimized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well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consider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freight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Against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expected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3" name="Seta: para a Direita 112">
            <a:extLst>
              <a:ext uri="{FF2B5EF4-FFF2-40B4-BE49-F238E27FC236}">
                <a16:creationId xmlns:a16="http://schemas.microsoft.com/office/drawing/2014/main" id="{EDC5E41B-2F87-01F3-1F52-DB9D4FC84D53}"/>
              </a:ext>
            </a:extLst>
          </p:cNvPr>
          <p:cNvSpPr/>
          <p:nvPr/>
        </p:nvSpPr>
        <p:spPr>
          <a:xfrm>
            <a:off x="7606832" y="1708751"/>
            <a:ext cx="839430" cy="46042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4" name="Retângulo 113">
            <a:extLst>
              <a:ext uri="{FF2B5EF4-FFF2-40B4-BE49-F238E27FC236}">
                <a16:creationId xmlns:a16="http://schemas.microsoft.com/office/drawing/2014/main" id="{BFB7DB70-31BB-3ED7-C5A0-73708C0A2879}"/>
              </a:ext>
            </a:extLst>
          </p:cNvPr>
          <p:cNvSpPr/>
          <p:nvPr/>
        </p:nvSpPr>
        <p:spPr>
          <a:xfrm>
            <a:off x="0" y="6210756"/>
            <a:ext cx="12192000" cy="62692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6" name="Retângulo 115">
            <a:extLst>
              <a:ext uri="{FF2B5EF4-FFF2-40B4-BE49-F238E27FC236}">
                <a16:creationId xmlns:a16="http://schemas.microsoft.com/office/drawing/2014/main" id="{961B5E5C-01E8-A952-6F7A-5990C6C1C3C0}"/>
              </a:ext>
            </a:extLst>
          </p:cNvPr>
          <p:cNvSpPr/>
          <p:nvPr/>
        </p:nvSpPr>
        <p:spPr>
          <a:xfrm>
            <a:off x="8239" y="-7434"/>
            <a:ext cx="12192000" cy="5455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8" name="CaixaDeTexto 117">
            <a:extLst>
              <a:ext uri="{FF2B5EF4-FFF2-40B4-BE49-F238E27FC236}">
                <a16:creationId xmlns:a16="http://schemas.microsoft.com/office/drawing/2014/main" id="{CB5C878C-E811-A223-5396-DFD4B8E35E7B}"/>
              </a:ext>
            </a:extLst>
          </p:cNvPr>
          <p:cNvSpPr txBox="1"/>
          <p:nvPr/>
        </p:nvSpPr>
        <p:spPr>
          <a:xfrm>
            <a:off x="479634" y="34755"/>
            <a:ext cx="31069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RENTAL BIKE</a:t>
            </a:r>
          </a:p>
        </p:txBody>
      </p:sp>
    </p:spTree>
    <p:extLst>
      <p:ext uri="{BB962C8B-B14F-4D97-AF65-F5344CB8AC3E}">
        <p14:creationId xmlns:p14="http://schemas.microsoft.com/office/powerpoint/2010/main" val="2727369896"/>
      </p:ext>
    </p:extLst>
  </p:cSld>
  <p:clrMapOvr>
    <a:masterClrMapping/>
  </p:clrMapOvr>
</p:sld>
</file>

<file path=ppt/theme/theme1.xml><?xml version="1.0" encoding="utf-8"?>
<a:theme xmlns:a="http://schemas.openxmlformats.org/drawingml/2006/main" name="Experiência Laranja">
  <a:themeElements>
    <a:clrScheme name="Experiência Laranja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Custom 40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9BAA8FFB-1EEF-49AC-B7FF-0F37799585E9}" vid="{6523F788-A6E6-47B0-B3C7-625411BE5A1C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546</TotalTime>
  <Words>133</Words>
  <Application>Microsoft Office PowerPoint</Application>
  <PresentationFormat>Widescreen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9" baseType="lpstr">
      <vt:lpstr>Aptos</vt:lpstr>
      <vt:lpstr>Arial</vt:lpstr>
      <vt:lpstr>Calibri</vt:lpstr>
      <vt:lpstr>Oswald SemiBold</vt:lpstr>
      <vt:lpstr>Times New Roman</vt:lpstr>
      <vt:lpstr>Univers Condensed Light</vt:lpstr>
      <vt:lpstr>Wingdings</vt:lpstr>
      <vt:lpstr>Experiência Laranja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israel andré</dc:creator>
  <cp:lastModifiedBy>israel andré</cp:lastModifiedBy>
  <cp:revision>11</cp:revision>
  <dcterms:created xsi:type="dcterms:W3CDTF">2026-08-22T16:00:02Z</dcterms:created>
  <dcterms:modified xsi:type="dcterms:W3CDTF">2026-08-23T01:06:55Z</dcterms:modified>
</cp:coreProperties>
</file>